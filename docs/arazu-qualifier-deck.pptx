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ARAZU   ·   AI KAVACH TRACK   ·   SLIDE 1 — INTRODUCTION, IDEATION &amp; BRIEF DESCRIPTION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bugs is nearly solved.
</a:t>
            </a:r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the fix is not.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2025 DARPA AIxCC finals, autonomous cyber-reasoning systems found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injected vulnerabilities and patched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54 of 63 found, 43 patched. The competition had an answer key. Real infrastructure does not.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B222B"/>
          </a:solidFill>
          <a:ln w="9525">
            <a:solidFill>
              <a:srgbClr val="2C37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87121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1821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" kern="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FOUND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06040" y="283464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B222B"/>
          </a:solidFill>
          <a:ln w="9525">
            <a:solidFill>
              <a:srgbClr val="2C37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287121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31821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" kern="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283464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B222B"/>
          </a:solidFill>
          <a:ln w="9525">
            <a:solidFill>
              <a:srgbClr val="2C37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87121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31821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" kern="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WAYS TO TELL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767328"/>
            <a:ext cx="6035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ratio understates it, because it counts bugs left unpatched — not patches that look right and are not. So we ran an open CRS twice against </a:t>
            </a:r>
            <a:pPr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libpng bug, on one workstation.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 1 restored libpng's own constant for $3.58. Run 2 cost $5.50 and removed iCCP support entirely. Both memory-safe, both cleared 29 PoV variants and the full suite, and the pipeline's own quality check passed both. Two runs is not a rate; one is enough to show it cannot tell them apart.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065776"/>
            <a:ext cx="6035040" cy="932688"/>
          </a:xfrm>
          <a:prstGeom prst="roundRect">
            <a:avLst>
              <a:gd name="adj" fmla="val 4902"/>
            </a:avLst>
          </a:prstGeom>
          <a:solidFill>
            <a:srgbClr val="090D12"/>
          </a:solidFill>
          <a:ln w="9525">
            <a:solidFill>
              <a:srgbClr val="2C37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13892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PNG THAT CARRIES AN ICC PROFILE THROUGH EACH BUILD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31520" y="5349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81328" y="534924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C24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41 out of bounds for type 'wpng_byte [max_keyword_wbytes]'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731520" y="55458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81328" y="554583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5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iccp-accepted keyword="ICC Profile"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731520" y="57424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81328" y="57424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iccp-rejected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7178040" y="2121408"/>
            <a:ext cx="32004" cy="3712464"/>
          </a:xfrm>
          <a:prstGeom prst="rect">
            <a:avLst/>
          </a:prstGeom>
          <a:solidFill>
            <a:srgbClr val="2C3742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212140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Arazu verifies what a CRS produces,</a:t>
            </a:r>
            <a:endParaRPr lang="en-US" sz="15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defense contractor with a</a:t>
            </a:r>
            <a:endParaRPr lang="en-US" sz="15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clearance spends time on it.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635240" y="3035808"/>
            <a:ext cx="40233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2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Arazu takes the patch and its proof of vulnerability from any existing cyber-reasoning system — we run Buttercup (github.com/trailofbits/buttercup/) unchanged — and tests whether the fix actually holds. </a:t>
            </a:r>
            <a:pPr indent="0" marL="0">
              <a:lnSpc>
                <a:spcPts val="165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find-patch-prove system: discovery is the DARPA-proven engine run unchanged; proof is ours, and proof is the verb nobody else brings.</a:t>
            </a:r>
            <a:pPr indent="0" marL="0">
              <a:lnSpc>
                <a:spcPts val="1650"/>
              </a:lnSpc>
              <a:buNone/>
            </a:pPr>
            <a:r>
              <a:rPr lang="en-US" sz="112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candidate reaches review only after it survives falsification,</a:t>
            </a:r>
            <a:pPr indent="0" marL="0">
              <a:lnSpc>
                <a:spcPts val="1650"/>
              </a:lnSpc>
              <a:buNone/>
            </a:pPr>
            <a:r>
              <a:rPr lang="en-US" sz="112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every refusal names a reason from a fixed vocabulary — a rejected patch says why, an undecided one says so plainly.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635240" y="5010912"/>
            <a:ext cx="4023360" cy="932688"/>
          </a:xfrm>
          <a:prstGeom prst="roundRect">
            <a:avLst>
              <a:gd name="adj" fmla="val 5882"/>
            </a:avLst>
          </a:prstGeom>
          <a:solidFill>
            <a:srgbClr val="1B222B"/>
          </a:solidFill>
          <a:ln w="12700">
            <a:solidFill>
              <a:srgbClr val="8A320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82128" y="51023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882128" y="53035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 yield, never safety.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weaker model means fewer patches per hour, not a lower bar, because acceptance lives in the harness, not the model.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6053328"/>
            <a:ext cx="11155680" cy="384048"/>
          </a:xfrm>
          <a:prstGeom prst="roundRect">
            <a:avLst>
              <a:gd name="adj" fmla="val 9524"/>
            </a:avLst>
          </a:prstGeom>
          <a:solidFill>
            <a:srgbClr val="12181F"/>
          </a:solidFill>
          <a:ln w="7620">
            <a:solidFill>
              <a:srgbClr val="2C37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61081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Buttercup  —  </a:t>
            </a:r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open-sourced under DARPA's rules so defenders would build on it</a:t>
            </a:r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second place at AIxCC 2025, the standalone build runs on one laptop, LiteLLM routing swaps in a local model with no code change, and maintenance is funded by the prize.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0881360" y="63825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— DETAILED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submitted code to a patch you can 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maintainer hands over, what comes back, and who decides.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874520" cy="1572768"/>
          </a:xfrm>
          <a:prstGeom prst="rect">
            <a:avLst/>
          </a:prstGeom>
          <a:solidFill>
            <a:srgbClr val="EFF8F1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426464"/>
            <a:ext cx="118872" cy="118872"/>
          </a:xfrm>
          <a:prstGeom prst="ellipse">
            <a:avLst/>
          </a:prstGeom>
          <a:solidFill>
            <a:srgbClr val="14532D"/>
          </a:solidFill>
          <a:ln w="3175">
            <a:solidFill>
              <a:srgbClr val="1453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568196"/>
            <a:ext cx="210312" cy="146304"/>
          </a:xfrm>
          <a:prstGeom prst="roundRect">
            <a:avLst>
              <a:gd name="adj" fmla="val 31250"/>
            </a:avLst>
          </a:prstGeom>
          <a:solidFill>
            <a:srgbClr val="14532D"/>
          </a:solidFill>
          <a:ln w="3175">
            <a:solidFill>
              <a:srgbClr val="145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739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A TARGET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1762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build script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· fuzz harnesses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on the low side,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in on write-once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media. No network path.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450592" y="2084832"/>
            <a:ext cx="29260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350008" y="18562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98064" y="1298448"/>
            <a:ext cx="6565392" cy="1572768"/>
          </a:xfrm>
          <a:prstGeom prst="rect">
            <a:avLst/>
          </a:prstGeom>
          <a:solidFill>
            <a:srgbClr val="FFFFFF"/>
          </a:solidFill>
          <a:ln w="15875">
            <a:solidFill>
              <a:srgbClr val="7F1D1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80944" y="1207008"/>
            <a:ext cx="21488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999232" y="11887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" kern="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— NO ROUTE OUT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944368" y="1481328"/>
            <a:ext cx="1024128" cy="1225296"/>
          </a:xfrm>
          <a:prstGeom prst="rect">
            <a:avLst/>
          </a:prstGeom>
          <a:solidFill>
            <a:srgbClr val="F3F5F7"/>
          </a:solidFill>
          <a:ln w="7620">
            <a:solidFill>
              <a:srgbClr val="A8AE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153619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44368" y="171907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90088" y="2048256"/>
            <a:ext cx="932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bundle is exactly what was signed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972154" y="2093976"/>
            <a:ext cx="40234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16045" y="1481328"/>
            <a:ext cx="1024128" cy="1225296"/>
          </a:xfrm>
          <a:prstGeom prst="rect">
            <a:avLst/>
          </a:prstGeom>
          <a:solidFill>
            <a:srgbClr val="F3F5F7"/>
          </a:solidFill>
          <a:ln w="7620">
            <a:solidFill>
              <a:srgbClr val="A8AE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16045" y="153619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16045" y="171907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61765" y="2048256"/>
            <a:ext cx="932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where no network route exists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043830" y="2093976"/>
            <a:ext cx="40234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87722" y="1481328"/>
            <a:ext cx="1024128" cy="1225296"/>
          </a:xfrm>
          <a:prstGeom prst="rect">
            <a:avLst/>
          </a:prstGeom>
          <a:solidFill>
            <a:srgbClr val="F3F5F7"/>
          </a:solidFill>
          <a:ln w="7620">
            <a:solidFill>
              <a:srgbClr val="A8AE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7722" y="153619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87722" y="171907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33442" y="2048256"/>
            <a:ext cx="932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the environment, bind the signing key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6115507" y="2093976"/>
            <a:ext cx="40234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59398" y="1481328"/>
            <a:ext cx="1024128" cy="1225296"/>
          </a:xfrm>
          <a:prstGeom prst="rect">
            <a:avLst/>
          </a:prstGeom>
          <a:solidFill>
            <a:srgbClr val="F3F5F7"/>
          </a:solidFill>
          <a:ln w="7620">
            <a:solidFill>
              <a:srgbClr val="A8AE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9398" y="153619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59398" y="171907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propose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05118" y="2048256"/>
            <a:ext cx="932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bug, produce a reproducer, write a candidate patch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7187184" y="2093976"/>
            <a:ext cx="40234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31075" y="1481328"/>
            <a:ext cx="1024128" cy="1225296"/>
          </a:xfrm>
          <a:prstGeom prst="rect">
            <a:avLst/>
          </a:prstGeom>
          <a:solidFill>
            <a:srgbClr val="FDF2E7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31075" y="153619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231075" y="171907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A3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276795" y="2048256"/>
            <a:ext cx="932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8A6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break the patch — accept only what survives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8258861" y="2093976"/>
            <a:ext cx="40234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31075" y="271119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built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8302752" y="1481328"/>
            <a:ext cx="1024128" cy="1225296"/>
          </a:xfrm>
          <a:prstGeom prst="rect">
            <a:avLst/>
          </a:prstGeom>
          <a:solidFill>
            <a:srgbClr val="F3F5F7"/>
          </a:solidFill>
          <a:ln w="7620">
            <a:solidFill>
              <a:srgbClr val="A8AE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02752" y="153619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02752" y="171907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&amp; log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348472" y="2048256"/>
            <a:ext cx="932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patch + evidence dossier, signed and recorded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9418320" y="2084832"/>
            <a:ext cx="29260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9363456" y="1773936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0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+</a:t>
            </a:r>
            <a:endParaRPr lang="en-US" sz="60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0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9784080" y="1298448"/>
            <a:ext cx="1874520" cy="1572768"/>
          </a:xfrm>
          <a:prstGeom prst="rect">
            <a:avLst/>
          </a:prstGeom>
          <a:solidFill>
            <a:srgbClr val="EFF8F1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652760" y="1426464"/>
            <a:ext cx="118872" cy="118872"/>
          </a:xfrm>
          <a:prstGeom prst="ellipse">
            <a:avLst/>
          </a:prstGeom>
          <a:solidFill>
            <a:srgbClr val="14532D"/>
          </a:solidFill>
          <a:ln w="3175">
            <a:solidFill>
              <a:srgbClr val="1453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07040" y="1568196"/>
            <a:ext cx="210312" cy="146304"/>
          </a:xfrm>
          <a:prstGeom prst="roundRect">
            <a:avLst>
              <a:gd name="adj" fmla="val 31250"/>
            </a:avLst>
          </a:prstGeom>
          <a:solidFill>
            <a:srgbClr val="14532D"/>
          </a:solidFill>
          <a:ln w="3175">
            <a:solidFill>
              <a:srgbClr val="1453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48088" y="17739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HUMAN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SIGNS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848088" y="21762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signatures, counted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people, not keys.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the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system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02920" y="2944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finds; it never decides. Every other stage can only refuse.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02920" y="3364992"/>
            <a:ext cx="5257800" cy="2944368"/>
          </a:xfrm>
          <a:prstGeom prst="roundRect">
            <a:avLst>
              <a:gd name="adj" fmla="val 1863"/>
            </a:avLst>
          </a:prstGeom>
          <a:solidFill>
            <a:srgbClr val="FDF2E7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35112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8A3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THE FALSIFICATION GATE, IN ORDER, STOPPING AT THE FIRST FAILURE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77240" y="38770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88720" y="38770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effect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926080" y="387705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 changes something to attribute to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074920" y="389077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b="1" spc="3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40" dirty="0"/>
          </a:p>
        </p:txBody>
      </p:sp>
      <p:sp>
        <p:nvSpPr>
          <p:cNvPr id="59" name="Text 57"/>
          <p:cNvSpPr/>
          <p:nvPr/>
        </p:nvSpPr>
        <p:spPr>
          <a:xfrm>
            <a:off x="777240" y="4279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188720" y="4279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to attribute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926080" y="427939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PoV fires before the patch and stops after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074920" y="429310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b="1" spc="3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40" dirty="0"/>
          </a:p>
        </p:txBody>
      </p:sp>
      <p:sp>
        <p:nvSpPr>
          <p:cNvPr id="63" name="Text 61"/>
          <p:cNvSpPr/>
          <p:nvPr/>
        </p:nvSpPr>
        <p:spPr>
          <a:xfrm>
            <a:off x="777240" y="46817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188720" y="4681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falsifying class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926080" y="46817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recurring input class, not one input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074920" y="469544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b="1" spc="3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40" dirty="0"/>
          </a:p>
        </p:txBody>
      </p:sp>
      <p:sp>
        <p:nvSpPr>
          <p:cNvPr id="67" name="Text 65"/>
          <p:cNvSpPr/>
          <p:nvPr/>
        </p:nvSpPr>
        <p:spPr>
          <a:xfrm>
            <a:off x="777240" y="50840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188720" y="50840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sanitizer + tests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2926080" y="508406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sanitizer finding, no test delta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074920" y="509778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b="1" spc="3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40" dirty="0"/>
          </a:p>
        </p:txBody>
      </p:sp>
      <p:sp>
        <p:nvSpPr>
          <p:cNvPr id="71" name="Text 69"/>
          <p:cNvSpPr/>
          <p:nvPr/>
        </p:nvSpPr>
        <p:spPr>
          <a:xfrm>
            <a:off x="777240" y="54864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188720" y="54864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926080" y="54864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holds across K samples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074920" y="550011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b="1" spc="3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640" dirty="0"/>
          </a:p>
        </p:txBody>
      </p:sp>
      <p:sp>
        <p:nvSpPr>
          <p:cNvPr id="75" name="Shape 73"/>
          <p:cNvSpPr/>
          <p:nvPr/>
        </p:nvSpPr>
        <p:spPr>
          <a:xfrm>
            <a:off x="777240" y="5943600"/>
            <a:ext cx="4709160" cy="7315"/>
          </a:xfrm>
          <a:prstGeom prst="rect">
            <a:avLst/>
          </a:prstGeom>
          <a:solidFill>
            <a:srgbClr val="E0B894"/>
          </a:solidFill>
          <a:ln/>
        </p:spPr>
      </p:sp>
      <p:sp>
        <p:nvSpPr>
          <p:cNvPr id="76" name="Text 74"/>
          <p:cNvSpPr/>
          <p:nvPr/>
        </p:nvSpPr>
        <p:spPr>
          <a:xfrm>
            <a:off x="777240" y="60167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b="1" dirty="0">
                <a:solidFill>
                  <a:srgbClr val="8A3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M0, M1, M2 and M3 are built</a:t>
            </a:r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5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three need no reference patch, so a novel target gets the whole reference-free subset today. Only M4 remains.</a:t>
            </a:r>
            <a:endParaRPr lang="en-US" sz="880" dirty="0"/>
          </a:p>
        </p:txBody>
      </p:sp>
      <p:sp>
        <p:nvSpPr>
          <p:cNvPr id="77" name="Shape 75"/>
          <p:cNvSpPr/>
          <p:nvPr/>
        </p:nvSpPr>
        <p:spPr>
          <a:xfrm>
            <a:off x="6053328" y="3364992"/>
            <a:ext cx="5605272" cy="1115568"/>
          </a:xfrm>
          <a:prstGeom prst="roundRect">
            <a:avLst>
              <a:gd name="adj" fmla="val 4098"/>
            </a:avLst>
          </a:prstGeom>
          <a:solidFill>
            <a:srgbClr val="F3F5F7"/>
          </a:solidFill>
          <a:ln w="9525">
            <a:solidFill>
              <a:srgbClr val="D8DDE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91072" y="34747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WITNESS — libpng run 2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291072" y="3694176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PoV stops reproducing, the build is sanitizer-clean, the suite is green — so M1 would credit it and M3 would pass it. </a:t>
            </a:r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M2 catches it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by replaying the class: any PNG carrying an ICC profile separates run 2 from a correct fix.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053328" y="4626864"/>
            <a:ext cx="5605272" cy="1115568"/>
          </a:xfrm>
          <a:prstGeom prst="roundRect">
            <a:avLst>
              <a:gd name="adj" fmla="val 4098"/>
            </a:avLst>
          </a:prstGeom>
          <a:solidFill>
            <a:srgbClr val="F3F5F7"/>
          </a:solidFill>
          <a:ln w="9525">
            <a:solidFill>
              <a:srgbClr val="D8DDE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91072" y="473659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SANITIZER SIGNAL, NOT THE EXIT CODE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291072" y="4956048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container </a:t>
            </a:r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0 whether or not the bug fires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know because our own grader keyed on exit status and accepted the challenge's own deliberately-wrong patch. </a:t>
            </a:r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running it, not by reading it.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10881360" y="63825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— TECHNOLOGY STACK / FLOW DIAGRAM / BLOCK DIAGRAM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to verdict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Buttercup finds the bug and writes the patch. The gate decides whether to believe it — stages run in order, stop at the first failure, and every refusal names a reason from a fixed vocabulary. The boundary covers Arazu, not the CRS.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246120" cy="5230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2529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3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— ANY CRS FITS HERE.  WE USE BUTTERCUP, RUN UNCHANGED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603504" y="1481328"/>
            <a:ext cx="2962656" cy="493776"/>
          </a:xfrm>
          <a:prstGeom prst="rect">
            <a:avLst/>
          </a:prstGeom>
          <a:solidFill>
            <a:srgbClr val="F3F5F7"/>
          </a:solidFill>
          <a:ln w="7620">
            <a:solidFill>
              <a:srgbClr val="9AA0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22476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49224" y="1723644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@ base..head + an oss-fuzz project</a:t>
            </a:r>
            <a:endParaRPr lang="en-US" sz="720" dirty="0"/>
          </a:p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1300+ upstream projects, none prepared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2084832" y="1975104"/>
            <a:ext cx="0" cy="109728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3504" y="2084832"/>
            <a:ext cx="2962656" cy="493776"/>
          </a:xfrm>
          <a:prstGeom prst="rect">
            <a:avLst/>
          </a:prstGeom>
          <a:solidFill>
            <a:srgbClr val="F3F5F7"/>
          </a:solidFill>
          <a:ln w="7620">
            <a:solidFill>
              <a:srgbClr val="9AA0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125980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 ·  SCHED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649224" y="2327148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clones the repo at base and head, and the fuzz tooling</a:t>
            </a:r>
            <a:endParaRPr lang="en-US" sz="720" dirty="0"/>
          </a:p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fans one task into build and index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084832" y="2578608"/>
            <a:ext cx="0" cy="109728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3504" y="2688336"/>
            <a:ext cx="2962656" cy="493776"/>
          </a:xfrm>
          <a:prstGeom prst="rect">
            <a:avLst/>
          </a:prstGeom>
          <a:solidFill>
            <a:srgbClr val="F3F5F7"/>
          </a:solidFill>
          <a:ln w="7620">
            <a:solidFill>
              <a:srgbClr val="9AA0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729484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·  INDEX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649224" y="2930652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oss-fuzz helper.py in dind, one harness per sanitizer</a:t>
            </a:r>
            <a:endParaRPr lang="en-US" sz="720" dirty="0"/>
          </a:p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cscope index gives the patcher its context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2084832" y="3182112"/>
            <a:ext cx="0" cy="109728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3504" y="3291840"/>
            <a:ext cx="2962656" cy="566928"/>
          </a:xfrm>
          <a:prstGeom prst="rect">
            <a:avLst/>
          </a:prstGeom>
          <a:solidFill>
            <a:srgbClr val="F3F5F7"/>
          </a:solidFill>
          <a:ln w="7620">
            <a:solidFill>
              <a:srgbClr val="9AA0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3332988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FUZZING CAMPAIGN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649224" y="3534156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seed-gen: an LLM writes inputs from the harness</a:t>
            </a:r>
            <a:endParaRPr lang="en-US" sz="720" dirty="0"/>
          </a:p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fuzzer-bot: libFuzzer under ASan and UBSan</a:t>
            </a:r>
            <a:endParaRPr lang="en-US" sz="720" dirty="0"/>
          </a:p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merger-bot + coverage-bot steer the next round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084832" y="3858768"/>
            <a:ext cx="0" cy="109728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3504" y="3968496"/>
            <a:ext cx="2962656" cy="493776"/>
          </a:xfrm>
          <a:prstGeom prst="rect">
            <a:avLst/>
          </a:prstGeom>
          <a:solidFill>
            <a:srgbClr val="F3F5F7"/>
          </a:solidFill>
          <a:ln w="7620">
            <a:solidFill>
              <a:srgbClr val="9AA0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4009644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 ·  CONFIRM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49224" y="4210812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crash under the sanitizer, parse the stack</a:t>
            </a:r>
            <a:endParaRPr lang="en-US" sz="720" dirty="0"/>
          </a:p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the input, keep only what fires again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084832" y="4462272"/>
            <a:ext cx="0" cy="109728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3504" y="4572000"/>
            <a:ext cx="2962656" cy="493776"/>
          </a:xfrm>
          <a:prstGeom prst="rect">
            <a:avLst/>
          </a:prstGeom>
          <a:solidFill>
            <a:srgbClr val="F3F5F7"/>
          </a:solidFill>
          <a:ln w="7620">
            <a:solidFill>
              <a:srgbClr val="9AA0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4613148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649224" y="481431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LLM loop over the cscope index</a:t>
            </a:r>
            <a:endParaRPr lang="en-US" sz="720" dirty="0"/>
          </a:p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check: PoVs fixed, suite green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084832" y="5065776"/>
            <a:ext cx="0" cy="109728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03504" y="5175504"/>
            <a:ext cx="2962656" cy="438912"/>
          </a:xfrm>
          <a:prstGeom prst="rect">
            <a:avLst/>
          </a:prstGeom>
          <a:solidFill>
            <a:srgbClr val="F3F5F7"/>
          </a:solidFill>
          <a:ln w="7620">
            <a:solidFill>
              <a:srgbClr val="9AA0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" y="5216652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649224" y="5417820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povs/*.bin · patches/*.patch · sarifs · bundles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603504" y="5779008"/>
            <a:ext cx="2962656" cy="420624"/>
          </a:xfrm>
          <a:prstGeom prst="rect">
            <a:avLst/>
          </a:prstGeom>
          <a:solidFill>
            <a:srgbClr val="F3F5F7"/>
          </a:solidFill>
          <a:ln w="7620">
            <a:solidFill>
              <a:srgbClr val="C9CDD2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603504" y="5820156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 ·  MULL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649224" y="6021324"/>
            <a:ext cx="2871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mutates the target, not the gate — survivors localise weak tests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3703320" y="5394960"/>
            <a:ext cx="566928" cy="0"/>
          </a:xfrm>
          <a:prstGeom prst="line">
            <a:avLst/>
          </a:prstGeom>
          <a:noFill/>
          <a:ln w="13970">
            <a:solidFill>
              <a:srgbClr val="14181D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675888" y="52029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+ PoV</a:t>
            </a:r>
            <a:endParaRPr lang="en-US" sz="560" dirty="0"/>
          </a:p>
        </p:txBody>
      </p:sp>
      <p:sp>
        <p:nvSpPr>
          <p:cNvPr id="39" name="Shape 37"/>
          <p:cNvSpPr/>
          <p:nvPr/>
        </p:nvSpPr>
        <p:spPr>
          <a:xfrm>
            <a:off x="3749040" y="2103120"/>
            <a:ext cx="475488" cy="3017520"/>
          </a:xfrm>
          <a:prstGeom prst="rect">
            <a:avLst/>
          </a:prstGeom>
          <a:solidFill>
            <a:srgbClr val="FBFCFD"/>
          </a:solidFill>
          <a:ln w="7620">
            <a:solidFill>
              <a:srgbClr val="D8DD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 rot="16200000">
            <a:off x="2386584" y="34747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spc="4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   ·   no shared model   ·   no shared prompt   ·   no shared failure mode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4315968" y="1188720"/>
            <a:ext cx="7415784" cy="5230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07408" y="12252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3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— ARAZU, THE VERIFICATION HARNESS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4480560" y="1444752"/>
            <a:ext cx="3017520" cy="493776"/>
          </a:xfrm>
          <a:prstGeom prst="rect">
            <a:avLst/>
          </a:prstGeom>
          <a:solidFill>
            <a:srgbClr val="F3F5F7"/>
          </a:solidFill>
          <a:ln w="7620">
            <a:solidFill>
              <a:srgbClr val="9AA0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1485900"/>
            <a:ext cx="3017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ENVELOPE  ·  ingress-verify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4526280" y="16870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ed25519 signatures over canonical JSON</a:t>
            </a:r>
            <a:endParaRPr lang="en-US" sz="720" dirty="0"/>
          </a:p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content root · path allowlist · version floor · FIDO2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5989320" y="1993392"/>
            <a:ext cx="0" cy="12801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425696" y="2121408"/>
            <a:ext cx="726948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7F1D1D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590288" y="2048256"/>
            <a:ext cx="201168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608576" y="19293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40" kern="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 RUN — BPF LSM, NO ROUTE OUT</a:t>
            </a:r>
            <a:endParaRPr lang="en-US" sz="690" dirty="0"/>
          </a:p>
        </p:txBody>
      </p:sp>
      <p:sp>
        <p:nvSpPr>
          <p:cNvPr id="50" name="Shape 48"/>
          <p:cNvSpPr/>
          <p:nvPr/>
        </p:nvSpPr>
        <p:spPr>
          <a:xfrm>
            <a:off x="4535424" y="2258568"/>
            <a:ext cx="7050024" cy="256032"/>
          </a:xfrm>
          <a:prstGeom prst="rect">
            <a:avLst/>
          </a:prstGeom>
          <a:solidFill>
            <a:srgbClr val="FDF3F3"/>
          </a:solidFill>
          <a:ln w="6350">
            <a:solidFill>
              <a:srgbClr val="E4C4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2212848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dirty="0">
                <a:solidFill>
                  <a:srgbClr val="7F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is denied in the kernel, not by firewall rules that can be edited: a namespace with no route out, plus an eBPF LSM on the socket path. The local model runs inside, on loopback. Which layer denies is proven by three-run attribution, not asserted.</a:t>
            </a:r>
            <a:endParaRPr lang="en-US" sz="690" dirty="0"/>
          </a:p>
        </p:txBody>
      </p:sp>
      <p:sp>
        <p:nvSpPr>
          <p:cNvPr id="52" name="Shape 50"/>
          <p:cNvSpPr/>
          <p:nvPr/>
        </p:nvSpPr>
        <p:spPr>
          <a:xfrm>
            <a:off x="4480560" y="2596896"/>
            <a:ext cx="3017520" cy="530352"/>
          </a:xfrm>
          <a:prstGeom prst="rect">
            <a:avLst/>
          </a:prstGeom>
          <a:solidFill>
            <a:srgbClr val="EFF8F1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0" y="2638044"/>
            <a:ext cx="3017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· patch effect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4526280" y="28392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the unified diff before any build — no changed line, nothing to attribute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7022592" y="262890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b="1" spc="3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540" dirty="0"/>
          </a:p>
        </p:txBody>
      </p:sp>
      <p:sp>
        <p:nvSpPr>
          <p:cNvPr id="56" name="Shape 54"/>
          <p:cNvSpPr/>
          <p:nvPr/>
        </p:nvSpPr>
        <p:spPr>
          <a:xfrm>
            <a:off x="5989320" y="3127248"/>
            <a:ext cx="0" cy="3657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7626096" y="2628900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empty-patch</a:t>
            </a:r>
            <a:endParaRPr lang="en-US" sz="630" dirty="0"/>
          </a:p>
        </p:txBody>
      </p:sp>
      <p:sp>
        <p:nvSpPr>
          <p:cNvPr id="58" name="Shape 56"/>
          <p:cNvSpPr/>
          <p:nvPr/>
        </p:nvSpPr>
        <p:spPr>
          <a:xfrm>
            <a:off x="4480560" y="3163824"/>
            <a:ext cx="3017520" cy="530352"/>
          </a:xfrm>
          <a:prstGeom prst="rect">
            <a:avLst/>
          </a:prstGeom>
          <a:solidFill>
            <a:srgbClr val="EFF8F1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0" y="3204972"/>
            <a:ext cx="3017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revert to attribute</a:t>
            </a:r>
            <a:endParaRPr lang="en-US" sz="760" dirty="0"/>
          </a:p>
        </p:txBody>
      </p:sp>
      <p:sp>
        <p:nvSpPr>
          <p:cNvPr id="60" name="Text 58"/>
          <p:cNvSpPr/>
          <p:nvPr/>
        </p:nvSpPr>
        <p:spPr>
          <a:xfrm>
            <a:off x="4526280" y="34061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PoV pre-patch, then patched — sanitizer string, never exit status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7022592" y="31958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b="1" spc="3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540" dirty="0"/>
          </a:p>
        </p:txBody>
      </p:sp>
      <p:sp>
        <p:nvSpPr>
          <p:cNvPr id="62" name="Shape 60"/>
          <p:cNvSpPr/>
          <p:nvPr/>
        </p:nvSpPr>
        <p:spPr>
          <a:xfrm>
            <a:off x="5989320" y="3694176"/>
            <a:ext cx="0" cy="9144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7626096" y="3195828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patch-does-not-apply</a:t>
            </a:r>
            <a:endParaRPr lang="en-US" sz="630" dirty="0"/>
          </a:p>
        </p:txBody>
      </p:sp>
      <p:sp>
        <p:nvSpPr>
          <p:cNvPr id="64" name="Text 62"/>
          <p:cNvSpPr/>
          <p:nvPr/>
        </p:nvSpPr>
        <p:spPr>
          <a:xfrm>
            <a:off x="7626096" y="3337560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revert-attribute-fail</a:t>
            </a:r>
            <a:endParaRPr lang="en-US" sz="630" dirty="0"/>
          </a:p>
        </p:txBody>
      </p:sp>
      <p:sp>
        <p:nvSpPr>
          <p:cNvPr id="65" name="Text 63"/>
          <p:cNvSpPr/>
          <p:nvPr/>
        </p:nvSpPr>
        <p:spPr>
          <a:xfrm>
            <a:off x="7626096" y="3479292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9A7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 pov-not-reproduced</a:t>
            </a:r>
            <a:endParaRPr lang="en-US" sz="630" dirty="0"/>
          </a:p>
        </p:txBody>
      </p:sp>
      <p:sp>
        <p:nvSpPr>
          <p:cNvPr id="66" name="Text 64"/>
          <p:cNvSpPr/>
          <p:nvPr/>
        </p:nvSpPr>
        <p:spPr>
          <a:xfrm>
            <a:off x="7626096" y="3621024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9A7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 pov-site-undetermined</a:t>
            </a:r>
            <a:endParaRPr lang="en-US" sz="630" dirty="0"/>
          </a:p>
        </p:txBody>
      </p:sp>
      <p:sp>
        <p:nvSpPr>
          <p:cNvPr id="67" name="Shape 65"/>
          <p:cNvSpPr/>
          <p:nvPr/>
        </p:nvSpPr>
        <p:spPr>
          <a:xfrm>
            <a:off x="4480560" y="3785616"/>
            <a:ext cx="3017520" cy="530352"/>
          </a:xfrm>
          <a:prstGeom prst="rect">
            <a:avLst/>
          </a:prstGeom>
          <a:solidFill>
            <a:srgbClr val="EFF8F1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0560" y="3826764"/>
            <a:ext cx="3017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falsifying class</a:t>
            </a:r>
            <a:endParaRPr lang="en-US" sz="760" dirty="0"/>
          </a:p>
        </p:txBody>
      </p:sp>
      <p:sp>
        <p:nvSpPr>
          <p:cNvPr id="69" name="Text 67"/>
          <p:cNvSpPr/>
          <p:nvPr/>
        </p:nvSpPr>
        <p:spPr>
          <a:xfrm>
            <a:off x="4526280" y="40279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every class member on two builds — candidate vs reference, any divergence</a:t>
            </a: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7022592" y="381762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b="1" spc="3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540" dirty="0"/>
          </a:p>
        </p:txBody>
      </p:sp>
      <p:sp>
        <p:nvSpPr>
          <p:cNvPr id="71" name="Shape 69"/>
          <p:cNvSpPr/>
          <p:nvPr/>
        </p:nvSpPr>
        <p:spPr>
          <a:xfrm>
            <a:off x="5989320" y="4315968"/>
            <a:ext cx="0" cy="3657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7626096" y="3817620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class-replay-fail</a:t>
            </a:r>
            <a:endParaRPr lang="en-US" sz="630" dirty="0"/>
          </a:p>
        </p:txBody>
      </p:sp>
      <p:sp>
        <p:nvSpPr>
          <p:cNvPr id="73" name="Text 71"/>
          <p:cNvSpPr/>
          <p:nvPr/>
        </p:nvSpPr>
        <p:spPr>
          <a:xfrm>
            <a:off x="7626096" y="3959352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9A7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 class-not-defined</a:t>
            </a:r>
            <a:endParaRPr lang="en-US" sz="630" dirty="0"/>
          </a:p>
        </p:txBody>
      </p:sp>
      <p:sp>
        <p:nvSpPr>
          <p:cNvPr id="74" name="Text 72"/>
          <p:cNvSpPr/>
          <p:nvPr/>
        </p:nvSpPr>
        <p:spPr>
          <a:xfrm>
            <a:off x="7626096" y="4101084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9A7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 unadjudicated-behaviour-change</a:t>
            </a:r>
            <a:endParaRPr lang="en-US" sz="630" dirty="0"/>
          </a:p>
        </p:txBody>
      </p:sp>
      <p:sp>
        <p:nvSpPr>
          <p:cNvPr id="75" name="Shape 73"/>
          <p:cNvSpPr/>
          <p:nvPr/>
        </p:nvSpPr>
        <p:spPr>
          <a:xfrm>
            <a:off x="4480560" y="4352544"/>
            <a:ext cx="3017520" cy="530352"/>
          </a:xfrm>
          <a:prstGeom prst="rect">
            <a:avLst/>
          </a:prstGeom>
          <a:solidFill>
            <a:srgbClr val="EFF8F1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80560" y="4393692"/>
            <a:ext cx="3017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sanitizer + tests</a:t>
            </a:r>
            <a:endParaRPr lang="en-US" sz="760" dirty="0"/>
          </a:p>
        </p:txBody>
      </p:sp>
      <p:sp>
        <p:nvSpPr>
          <p:cNvPr id="77" name="Text 75"/>
          <p:cNvSpPr/>
          <p:nvPr/>
        </p:nvSpPr>
        <p:spPr>
          <a:xfrm>
            <a:off x="4526280" y="45948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ASan/UBSan diffed against the pre-patch build · test delta vs a recorded baseline</a:t>
            </a:r>
            <a:endParaRPr lang="en-US" sz="720" dirty="0"/>
          </a:p>
        </p:txBody>
      </p:sp>
      <p:sp>
        <p:nvSpPr>
          <p:cNvPr id="78" name="Text 76"/>
          <p:cNvSpPr/>
          <p:nvPr/>
        </p:nvSpPr>
        <p:spPr>
          <a:xfrm>
            <a:off x="7022592" y="438454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b="1" spc="3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540" dirty="0"/>
          </a:p>
        </p:txBody>
      </p:sp>
      <p:sp>
        <p:nvSpPr>
          <p:cNvPr id="79" name="Shape 77"/>
          <p:cNvSpPr/>
          <p:nvPr/>
        </p:nvSpPr>
        <p:spPr>
          <a:xfrm>
            <a:off x="5989320" y="4882896"/>
            <a:ext cx="0" cy="3657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0" name="Text 78"/>
          <p:cNvSpPr/>
          <p:nvPr/>
        </p:nvSpPr>
        <p:spPr>
          <a:xfrm>
            <a:off x="7626096" y="4384548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new-sanitizer-finding</a:t>
            </a:r>
            <a:endParaRPr lang="en-US" sz="630" dirty="0"/>
          </a:p>
        </p:txBody>
      </p:sp>
      <p:sp>
        <p:nvSpPr>
          <p:cNvPr id="81" name="Text 79"/>
          <p:cNvSpPr/>
          <p:nvPr/>
        </p:nvSpPr>
        <p:spPr>
          <a:xfrm>
            <a:off x="7626096" y="4526280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new-test-failure</a:t>
            </a:r>
            <a:endParaRPr lang="en-US" sz="630" dirty="0"/>
          </a:p>
        </p:txBody>
      </p:sp>
      <p:sp>
        <p:nvSpPr>
          <p:cNvPr id="82" name="Shape 80"/>
          <p:cNvSpPr/>
          <p:nvPr/>
        </p:nvSpPr>
        <p:spPr>
          <a:xfrm>
            <a:off x="4480560" y="4919472"/>
            <a:ext cx="3017520" cy="530352"/>
          </a:xfrm>
          <a:prstGeom prst="rect">
            <a:avLst/>
          </a:prstGeom>
          <a:solidFill>
            <a:srgbClr val="FDF2E7"/>
          </a:solidFill>
          <a:ln w="13970">
            <a:solidFill>
              <a:srgbClr val="C2410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80560" y="4960620"/>
            <a:ext cx="3017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8A3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non-determinism</a:t>
            </a:r>
            <a:endParaRPr lang="en-US" sz="760" dirty="0"/>
          </a:p>
        </p:txBody>
      </p:sp>
      <p:sp>
        <p:nvSpPr>
          <p:cNvPr id="84" name="Text 82"/>
          <p:cNvSpPr/>
          <p:nvPr/>
        </p:nvSpPr>
        <p:spPr>
          <a:xfrm>
            <a:off x="4526280" y="51617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K candidates, replay the class — disagreement is the oracle</a:t>
            </a:r>
            <a:endParaRPr lang="en-US" sz="720" dirty="0"/>
          </a:p>
        </p:txBody>
      </p:sp>
      <p:sp>
        <p:nvSpPr>
          <p:cNvPr id="85" name="Text 83"/>
          <p:cNvSpPr/>
          <p:nvPr/>
        </p:nvSpPr>
        <p:spPr>
          <a:xfrm>
            <a:off x="7022592" y="495147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b="1" spc="3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540" dirty="0"/>
          </a:p>
        </p:txBody>
      </p:sp>
      <p:sp>
        <p:nvSpPr>
          <p:cNvPr id="86" name="Text 84"/>
          <p:cNvSpPr/>
          <p:nvPr/>
        </p:nvSpPr>
        <p:spPr>
          <a:xfrm>
            <a:off x="7626096" y="4951476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nondeterministic</a:t>
            </a:r>
            <a:endParaRPr lang="en-US" sz="630" dirty="0"/>
          </a:p>
        </p:txBody>
      </p:sp>
      <p:sp>
        <p:nvSpPr>
          <p:cNvPr id="87" name="Text 85"/>
          <p:cNvSpPr/>
          <p:nvPr/>
        </p:nvSpPr>
        <p:spPr>
          <a:xfrm>
            <a:off x="7626096" y="5212080"/>
            <a:ext cx="3986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REJECT — the candidate is not a fix          ?  ERROR — the gate ran and cannot tell, and says so</a:t>
            </a:r>
            <a:endParaRPr lang="en-US" sz="660" dirty="0"/>
          </a:p>
        </p:txBody>
      </p:sp>
      <p:sp>
        <p:nvSpPr>
          <p:cNvPr id="88" name="Text 86"/>
          <p:cNvSpPr/>
          <p:nvPr/>
        </p:nvSpPr>
        <p:spPr>
          <a:xfrm>
            <a:off x="7626096" y="534009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00"/>
              </a:lnSpc>
              <a:buNone/>
            </a:pPr>
            <a:r>
              <a:rPr lang="en-US" sz="660" b="1" dirty="0">
                <a:solidFill>
                  <a:srgbClr val="8A3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needs a known-good reference AND a per-case observer</a:t>
            </a:r>
            <a:pPr indent="0" marL="0">
              <a:lnSpc>
                <a:spcPts val="700"/>
              </a:lnSpc>
              <a:buNone/>
            </a:pPr>
            <a:r>
              <a:rPr lang="en-US" sz="660" dirty="0">
                <a:solidFill>
                  <a:srgbClr val="7A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fuzz harness discards the diagnostic a discriminator reads, so writing one is research, not configuration. M0, M1 and M3 need neither: they are the reference-free subset a novel target gets.</a:t>
            </a:r>
            <a:endParaRPr lang="en-US" sz="660" dirty="0"/>
          </a:p>
        </p:txBody>
      </p:sp>
      <p:sp>
        <p:nvSpPr>
          <p:cNvPr id="89" name="Text 87"/>
          <p:cNvSpPr/>
          <p:nvPr/>
        </p:nvSpPr>
        <p:spPr>
          <a:xfrm>
            <a:off x="4535424" y="55229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00"/>
              </a:lnSpc>
              <a:buNone/>
            </a:pPr>
            <a:r>
              <a:rPr lang="en-US" sz="66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 · make mutation-test breaks each check in turn —</a:t>
            </a:r>
            <a:endParaRPr lang="en-US" sz="660" dirty="0"/>
          </a:p>
          <a:p>
            <a:pPr indent="0" marL="0">
              <a:lnSpc>
                <a:spcPts val="700"/>
              </a:lnSpc>
              <a:buNone/>
            </a:pPr>
            <a:r>
              <a:rPr lang="en-US" sz="66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no test catches has no evidence behind it</a:t>
            </a:r>
            <a:endParaRPr lang="en-US" sz="660" dirty="0"/>
          </a:p>
        </p:txBody>
      </p:sp>
      <p:sp>
        <p:nvSpPr>
          <p:cNvPr id="90" name="Shape 88"/>
          <p:cNvSpPr/>
          <p:nvPr/>
        </p:nvSpPr>
        <p:spPr>
          <a:xfrm>
            <a:off x="5989320" y="5449824"/>
            <a:ext cx="0" cy="420624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4480560" y="5870448"/>
            <a:ext cx="3017520" cy="493776"/>
          </a:xfrm>
          <a:prstGeom prst="rect">
            <a:avLst/>
          </a:prstGeom>
          <a:solidFill>
            <a:srgbClr val="EFF8F1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480560" y="5911596"/>
            <a:ext cx="3017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 ·  SIGNATURE</a:t>
            </a:r>
            <a:endParaRPr lang="en-US" sz="760" dirty="0"/>
          </a:p>
        </p:txBody>
      </p:sp>
      <p:sp>
        <p:nvSpPr>
          <p:cNvPr id="93" name="Text 91"/>
          <p:cNvSpPr/>
          <p:nvPr/>
        </p:nvSpPr>
        <p:spPr>
          <a:xfrm>
            <a:off x="4526280" y="61127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seal-tool extends the content root into PCR 23</a:t>
            </a:r>
            <a:endParaRPr lang="en-US" sz="720" dirty="0"/>
          </a:p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touch · unseal fails if the measurement moved</a:t>
            </a:r>
            <a:endParaRPr lang="en-US" sz="720" dirty="0"/>
          </a:p>
        </p:txBody>
      </p:sp>
      <p:sp>
        <p:nvSpPr>
          <p:cNvPr id="94" name="Shape 92"/>
          <p:cNvSpPr/>
          <p:nvPr/>
        </p:nvSpPr>
        <p:spPr>
          <a:xfrm>
            <a:off x="7498080" y="6117336"/>
            <a:ext cx="274320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7790688" y="5870448"/>
            <a:ext cx="3840480" cy="493776"/>
          </a:xfrm>
          <a:prstGeom prst="rect">
            <a:avLst/>
          </a:prstGeom>
          <a:solidFill>
            <a:srgbClr val="EFF8F1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790688" y="5911596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 —  SIGNED, WITH ITS DOSSIER</a:t>
            </a:r>
            <a:endParaRPr lang="en-US" sz="760" dirty="0"/>
          </a:p>
        </p:txBody>
      </p:sp>
      <p:sp>
        <p:nvSpPr>
          <p:cNvPr id="97" name="Text 95"/>
          <p:cNvSpPr/>
          <p:nvPr/>
        </p:nvSpPr>
        <p:spPr>
          <a:xfrm>
            <a:off x="7836408" y="61127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· revert proof · class replay · sanitizer results · what we could not prove</a:t>
            </a:r>
            <a:endParaRPr lang="en-US" sz="720" dirty="0"/>
          </a:p>
          <a:p>
            <a:pPr algn="ctr" indent="0" marL="0">
              <a:lnSpc>
                <a:spcPts val="76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hash chain, log-verify recomputes it</a:t>
            </a:r>
            <a:endParaRPr lang="en-US" sz="720" dirty="0"/>
          </a:p>
        </p:txBody>
      </p:sp>
      <p:sp>
        <p:nvSpPr>
          <p:cNvPr id="98" name="Text 96"/>
          <p:cNvSpPr/>
          <p:nvPr/>
        </p:nvSpPr>
        <p:spPr>
          <a:xfrm>
            <a:off x="10881360" y="63825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— SALIENT FEATURES &amp; NOVELTY   ·   USP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acceptance bar does not live in the model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115568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875">
            <a:solidFill>
              <a:srgbClr val="1418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asks questions a model does not answer. Verification is </a:t>
            </a:r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deterministic</a:t>
            </a:r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cost $3.58-$5.50 per candidate patch (claude-sonnet-4-5, ~90% of spend), 9m52s-14m44s, on one workstation with no rented compute — and that spend is the open CRS's, not ours. The gate has no model: pkg/model is an interface and a deterministic stub, with no client, no key and no endpoint, so acceptance never scales with tokens. AIxCC finalists spent $7.1K-$73.9K on compute alone; the winner's total was $103.3K at $263 per point (Trail of Bits, Aug 2025).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807208"/>
            <a:ext cx="64008" cy="19202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761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dossier is the product.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" y="3035808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accepted patch ships the evidence behind it — the reproducer, what was replayed, what broke, and a mandatory </a:t>
            </a:r>
            <a:pPr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could not prove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section. That is what turns a review into a signature — evidence, never the model's confidence.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904488"/>
            <a:ext cx="64008" cy="19202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38587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catches us, not just the patch.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" y="4133088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week it caught </a:t>
            </a:r>
            <a:pPr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mutation harness that could not fail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cost figure measuring the wrong interval, and a check nothing ever reached.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800600"/>
            <a:ext cx="64008" cy="19202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" y="4754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Falsification proven on our own code.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2376" y="502920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mutations, </a:t>
            </a:r>
            <a:pPr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uncaught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across two catalogues.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807208"/>
            <a:ext cx="64008" cy="19202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7" name="Text 15"/>
          <p:cNvSpPr/>
          <p:nvPr/>
        </p:nvSpPr>
        <p:spPr>
          <a:xfrm>
            <a:off x="6483096" y="2761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proved, not asserted.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83096" y="3035808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runs, not two. A raw send to the high side's own loopback: </a:t>
            </a:r>
            <a:pPr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REACHED · REACHED · EPERM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denial is the eBPF hook alone.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904488"/>
            <a:ext cx="64008" cy="19202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38587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up to the signature.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83096" y="4133088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armed force fields an unsigned patcher. The signature is the customer's requirement; the dossier is what makes it </a:t>
            </a:r>
            <a:pPr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five-minute sign-off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4800600"/>
            <a:ext cx="64008" cy="19202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3" name="Text 21"/>
          <p:cNvSpPr/>
          <p:nvPr/>
        </p:nvSpPr>
        <p:spPr>
          <a:xfrm>
            <a:off x="6483096" y="4754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to one box, and says so.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83096" y="502920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pipeline runs on one workstation, one 24 GB GPU. With no TPM, </a:t>
            </a:r>
            <a:pPr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seal-tool refuses to sign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fail-closed, demonstrated rather than described.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5623560"/>
            <a:ext cx="64008" cy="19202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6" name="Text 24"/>
          <p:cNvSpPr/>
          <p:nvPr/>
        </p:nvSpPr>
        <p:spPr>
          <a:xfrm>
            <a:off x="6483096" y="5577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loses to running, measurably.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83096" y="585216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whether a patch even applies, a frontier model certified </a:t>
            </a:r>
            <a:pPr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21 malformed diffs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correct fixes. </a:t>
            </a:r>
            <a:pPr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apply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answers the same question in milliseconds, and is right every time.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881360" y="63825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— FINAL DELIVERABLES &amp; PROOF OF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Checkable today.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840480" y="841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available to evaluators on request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EFF8F1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824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CPVs REPRODUCED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67712" y="1335024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EFF8F1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67712" y="137160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67712" y="16824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CLASSES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32504" y="1335024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EFF8F1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2504" y="137160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/ 47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32504" y="16824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UNCAUGHT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797296" y="1335024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EFF8F1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97296" y="137160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97296" y="16824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BRANCHES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562088" y="1335024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EFF8F1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2088" y="137160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62088" y="16824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STAGES BUILT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26880" y="1335024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FDF2E7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137160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0" y="16824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SELF-FOUND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23408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63240" y="23408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23408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2560320"/>
            <a:ext cx="8595360" cy="18288"/>
          </a:xfrm>
          <a:prstGeom prst="rect">
            <a:avLst/>
          </a:prstGeom>
          <a:solidFill>
            <a:srgbClr val="2C3742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67004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candidate patch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63240" y="267004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$3.58-$5.50, to patch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80760" y="26700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trusted patch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2980944"/>
            <a:ext cx="8595360" cy="7315"/>
          </a:xfrm>
          <a:prstGeom prst="rect">
            <a:avLst/>
          </a:prstGeom>
          <a:solidFill>
            <a:srgbClr val="222A33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05409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clock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63240" y="305409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9m52s to 14m44s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80760" y="30540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accepted patch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3364992"/>
            <a:ext cx="8595360" cy="7315"/>
          </a:xfrm>
          <a:prstGeom prst="rect">
            <a:avLst/>
          </a:prstGeom>
          <a:solidFill>
            <a:srgbClr val="222A33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343814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fidelity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63240" y="343814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of 14 PoVs reproduce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80760" y="34381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targets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3749040"/>
            <a:ext cx="8595360" cy="7315"/>
          </a:xfrm>
          <a:prstGeom prst="rect">
            <a:avLst/>
          </a:prstGeom>
          <a:solidFill>
            <a:srgbClr val="222A33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8221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063240" y="382219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three-run egress table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080760" y="38221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live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4133088"/>
            <a:ext cx="8595360" cy="7315"/>
          </a:xfrm>
          <a:prstGeom prst="rect">
            <a:avLst/>
          </a:prstGeom>
          <a:solidFill>
            <a:srgbClr val="222A33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20624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coverage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063240" y="420624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run, 0 uncaught, 3 untestable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080760" y="42062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to the gate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" y="4517136"/>
            <a:ext cx="8595360" cy="7315"/>
          </a:xfrm>
          <a:prstGeom prst="rect">
            <a:avLst/>
          </a:prstGeom>
          <a:solidFill>
            <a:srgbClr val="222A33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5902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063240" y="459028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yet measurable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80760" y="45902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accepted patches failing PoV re-run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02920" y="4901184"/>
            <a:ext cx="8595360" cy="7315"/>
          </a:xfrm>
          <a:prstGeom prst="rect">
            <a:avLst/>
          </a:prstGeom>
          <a:solidFill>
            <a:srgbClr val="222A33"/>
          </a:solidFill>
          <a:ln/>
        </p:spPr>
      </p:sp>
      <p:sp>
        <p:nvSpPr>
          <p:cNvPr id="51" name="Shape 49"/>
          <p:cNvSpPr/>
          <p:nvPr/>
        </p:nvSpPr>
        <p:spPr>
          <a:xfrm>
            <a:off x="9464040" y="2340864"/>
            <a:ext cx="2194560" cy="2761488"/>
          </a:xfrm>
          <a:prstGeom prst="roundRect">
            <a:avLst>
              <a:gd name="adj" fmla="val 2500"/>
            </a:avLst>
          </a:prstGeom>
          <a:solidFill>
            <a:srgbClr val="14201A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46920" y="24688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5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TODAY, CHECKABLE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656064" y="2692908"/>
            <a:ext cx="45720" cy="45720"/>
          </a:xfrm>
          <a:prstGeom prst="rect">
            <a:avLst/>
          </a:prstGeom>
          <a:solidFill>
            <a:srgbClr val="5FBF7F"/>
          </a:solidFill>
          <a:ln/>
        </p:spPr>
      </p:sp>
      <p:sp>
        <p:nvSpPr>
          <p:cNvPr id="54" name="Text 52"/>
          <p:cNvSpPr/>
          <p:nvPr/>
        </p:nvSpPr>
        <p:spPr>
          <a:xfrm>
            <a:off x="9765792" y="265176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Falsification M0, M1, M2, M3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9765792" y="276606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the 4 need no reference</a:t>
            </a:r>
            <a:endParaRPr lang="en-US" sz="660" dirty="0"/>
          </a:p>
        </p:txBody>
      </p:sp>
      <p:sp>
        <p:nvSpPr>
          <p:cNvPr id="56" name="Shape 54"/>
          <p:cNvSpPr/>
          <p:nvPr/>
        </p:nvSpPr>
        <p:spPr>
          <a:xfrm>
            <a:off x="9656064" y="2901391"/>
            <a:ext cx="45720" cy="45720"/>
          </a:xfrm>
          <a:prstGeom prst="rect">
            <a:avLst/>
          </a:prstGeom>
          <a:solidFill>
            <a:srgbClr val="5FBF7F"/>
          </a:solidFill>
          <a:ln/>
        </p:spPr>
      </p:sp>
      <p:sp>
        <p:nvSpPr>
          <p:cNvPr id="57" name="Text 55"/>
          <p:cNvSpPr/>
          <p:nvPr/>
        </p:nvSpPr>
        <p:spPr>
          <a:xfrm>
            <a:off x="9765792" y="2860243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dossier</a:t>
            </a:r>
            <a:endParaRPr lang="en-US" sz="760" dirty="0"/>
          </a:p>
        </p:txBody>
      </p:sp>
      <p:sp>
        <p:nvSpPr>
          <p:cNvPr id="58" name="Text 56"/>
          <p:cNvSpPr/>
          <p:nvPr/>
        </p:nvSpPr>
        <p:spPr>
          <a:xfrm>
            <a:off x="9765792" y="2974543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re-derives every claim</a:t>
            </a:r>
            <a:endParaRPr lang="en-US" sz="660" dirty="0"/>
          </a:p>
        </p:txBody>
      </p:sp>
      <p:sp>
        <p:nvSpPr>
          <p:cNvPr id="59" name="Shape 57"/>
          <p:cNvSpPr/>
          <p:nvPr/>
        </p:nvSpPr>
        <p:spPr>
          <a:xfrm>
            <a:off x="9656064" y="3109874"/>
            <a:ext cx="45720" cy="45720"/>
          </a:xfrm>
          <a:prstGeom prst="rect">
            <a:avLst/>
          </a:prstGeom>
          <a:solidFill>
            <a:srgbClr val="5FBF7F"/>
          </a:solidFill>
          <a:ln/>
        </p:spPr>
      </p:sp>
      <p:sp>
        <p:nvSpPr>
          <p:cNvPr id="60" name="Text 58"/>
          <p:cNvSpPr/>
          <p:nvPr/>
        </p:nvSpPr>
        <p:spPr>
          <a:xfrm>
            <a:off x="9765792" y="306872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Six-branch demo</a:t>
            </a:r>
            <a:endParaRPr lang="en-US" sz="760" dirty="0"/>
          </a:p>
        </p:txBody>
      </p:sp>
      <p:sp>
        <p:nvSpPr>
          <p:cNvPr id="61" name="Text 59"/>
          <p:cNvSpPr/>
          <p:nvPr/>
        </p:nvSpPr>
        <p:spPr>
          <a:xfrm>
            <a:off x="9765792" y="3183026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sabotage-tested</a:t>
            </a:r>
            <a:endParaRPr lang="en-US" sz="660" dirty="0"/>
          </a:p>
        </p:txBody>
      </p:sp>
      <p:sp>
        <p:nvSpPr>
          <p:cNvPr id="62" name="Shape 60"/>
          <p:cNvSpPr/>
          <p:nvPr/>
        </p:nvSpPr>
        <p:spPr>
          <a:xfrm>
            <a:off x="9656064" y="3318358"/>
            <a:ext cx="45720" cy="45720"/>
          </a:xfrm>
          <a:prstGeom prst="rect">
            <a:avLst/>
          </a:prstGeom>
          <a:solidFill>
            <a:srgbClr val="5FBF7F"/>
          </a:solidFill>
          <a:ln/>
        </p:spPr>
      </p:sp>
      <p:sp>
        <p:nvSpPr>
          <p:cNvPr id="63" name="Text 61"/>
          <p:cNvSpPr/>
          <p:nvPr/>
        </p:nvSpPr>
        <p:spPr>
          <a:xfrm>
            <a:off x="9765792" y="327721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10-class ingest gate</a:t>
            </a:r>
            <a:endParaRPr lang="en-US" sz="760" dirty="0"/>
          </a:p>
        </p:txBody>
      </p:sp>
      <p:sp>
        <p:nvSpPr>
          <p:cNvPr id="64" name="Text 62"/>
          <p:cNvSpPr/>
          <p:nvPr/>
        </p:nvSpPr>
        <p:spPr>
          <a:xfrm>
            <a:off x="9765792" y="339151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per class</a:t>
            </a:r>
            <a:endParaRPr lang="en-US" sz="660" dirty="0"/>
          </a:p>
        </p:txBody>
      </p:sp>
      <p:sp>
        <p:nvSpPr>
          <p:cNvPr id="65" name="Shape 63"/>
          <p:cNvSpPr/>
          <p:nvPr/>
        </p:nvSpPr>
        <p:spPr>
          <a:xfrm>
            <a:off x="9656064" y="3526841"/>
            <a:ext cx="45720" cy="45720"/>
          </a:xfrm>
          <a:prstGeom prst="rect">
            <a:avLst/>
          </a:prstGeom>
          <a:solidFill>
            <a:srgbClr val="5FBF7F"/>
          </a:solidFill>
          <a:ln/>
        </p:spPr>
      </p:sp>
      <p:sp>
        <p:nvSpPr>
          <p:cNvPr id="66" name="Text 64"/>
          <p:cNvSpPr/>
          <p:nvPr/>
        </p:nvSpPr>
        <p:spPr>
          <a:xfrm>
            <a:off x="9765792" y="3485693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Three-run egress attribution</a:t>
            </a:r>
            <a:endParaRPr lang="en-US" sz="760" dirty="0"/>
          </a:p>
        </p:txBody>
      </p:sp>
      <p:sp>
        <p:nvSpPr>
          <p:cNvPr id="67" name="Text 65"/>
          <p:cNvSpPr/>
          <p:nvPr/>
        </p:nvSpPr>
        <p:spPr>
          <a:xfrm>
            <a:off x="9765792" y="3599993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bare metal, kernel counters</a:t>
            </a:r>
            <a:endParaRPr lang="en-US" sz="660" dirty="0"/>
          </a:p>
        </p:txBody>
      </p:sp>
      <p:sp>
        <p:nvSpPr>
          <p:cNvPr id="68" name="Shape 66"/>
          <p:cNvSpPr/>
          <p:nvPr/>
        </p:nvSpPr>
        <p:spPr>
          <a:xfrm>
            <a:off x="9656064" y="3735324"/>
            <a:ext cx="45720" cy="45720"/>
          </a:xfrm>
          <a:prstGeom prst="rect">
            <a:avLst/>
          </a:prstGeom>
          <a:solidFill>
            <a:srgbClr val="5FBF7F"/>
          </a:solidFill>
          <a:ln/>
        </p:spPr>
      </p:sp>
      <p:sp>
        <p:nvSpPr>
          <p:cNvPr id="69" name="Text 67"/>
          <p:cNvSpPr/>
          <p:nvPr/>
        </p:nvSpPr>
        <p:spPr>
          <a:xfrm>
            <a:off x="9765792" y="36941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fail-closed signing</a:t>
            </a:r>
            <a:endParaRPr lang="en-US" sz="760" dirty="0"/>
          </a:p>
        </p:txBody>
      </p:sp>
      <p:sp>
        <p:nvSpPr>
          <p:cNvPr id="70" name="Text 68"/>
          <p:cNvSpPr/>
          <p:nvPr/>
        </p:nvSpPr>
        <p:spPr>
          <a:xfrm>
            <a:off x="9765792" y="3808476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self-check, 15/15 cold</a:t>
            </a:r>
            <a:endParaRPr lang="en-US" sz="660" dirty="0"/>
          </a:p>
        </p:txBody>
      </p:sp>
      <p:sp>
        <p:nvSpPr>
          <p:cNvPr id="71" name="Shape 69"/>
          <p:cNvSpPr/>
          <p:nvPr/>
        </p:nvSpPr>
        <p:spPr>
          <a:xfrm>
            <a:off x="9656064" y="3943807"/>
            <a:ext cx="45720" cy="45720"/>
          </a:xfrm>
          <a:prstGeom prst="rect">
            <a:avLst/>
          </a:prstGeom>
          <a:solidFill>
            <a:srgbClr val="5FBF7F"/>
          </a:solidFill>
          <a:ln/>
        </p:spPr>
      </p:sp>
      <p:sp>
        <p:nvSpPr>
          <p:cNvPr id="72" name="Text 70"/>
          <p:cNvSpPr/>
          <p:nvPr/>
        </p:nvSpPr>
        <p:spPr>
          <a:xfrm>
            <a:off x="9765792" y="3902659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log + verifier</a:t>
            </a:r>
            <a:endParaRPr lang="en-US" sz="760" dirty="0"/>
          </a:p>
        </p:txBody>
      </p:sp>
      <p:sp>
        <p:nvSpPr>
          <p:cNvPr id="73" name="Shape 71"/>
          <p:cNvSpPr/>
          <p:nvPr/>
        </p:nvSpPr>
        <p:spPr>
          <a:xfrm>
            <a:off x="9656064" y="4152290"/>
            <a:ext cx="45720" cy="45720"/>
          </a:xfrm>
          <a:prstGeom prst="rect">
            <a:avLst/>
          </a:prstGeom>
          <a:solidFill>
            <a:srgbClr val="5FBF7F"/>
          </a:solidFill>
          <a:ln/>
        </p:spPr>
      </p:sp>
      <p:sp>
        <p:nvSpPr>
          <p:cNvPr id="74" name="Text 72"/>
          <p:cNvSpPr/>
          <p:nvPr/>
        </p:nvSpPr>
        <p:spPr>
          <a:xfrm>
            <a:off x="9765792" y="4111142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corpus cases</a:t>
            </a:r>
            <a:endParaRPr lang="en-US" sz="760" dirty="0"/>
          </a:p>
        </p:txBody>
      </p:sp>
      <p:sp>
        <p:nvSpPr>
          <p:cNvPr id="75" name="Text 73"/>
          <p:cNvSpPr/>
          <p:nvPr/>
        </p:nvSpPr>
        <p:spPr>
          <a:xfrm>
            <a:off x="9765792" y="4225442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reproduced · 1 mis-wired by design</a:t>
            </a:r>
            <a:endParaRPr lang="en-US" sz="660" dirty="0"/>
          </a:p>
        </p:txBody>
      </p:sp>
      <p:sp>
        <p:nvSpPr>
          <p:cNvPr id="76" name="Shape 74"/>
          <p:cNvSpPr/>
          <p:nvPr/>
        </p:nvSpPr>
        <p:spPr>
          <a:xfrm>
            <a:off x="9656064" y="4360774"/>
            <a:ext cx="45720" cy="45720"/>
          </a:xfrm>
          <a:prstGeom prst="rect">
            <a:avLst/>
          </a:prstGeom>
          <a:solidFill>
            <a:srgbClr val="5FBF7F"/>
          </a:solidFill>
          <a:ln/>
        </p:spPr>
      </p:sp>
      <p:sp>
        <p:nvSpPr>
          <p:cNvPr id="77" name="Text 75"/>
          <p:cNvSpPr/>
          <p:nvPr/>
        </p:nvSpPr>
        <p:spPr>
          <a:xfrm>
            <a:off x="9765792" y="431962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negative</a:t>
            </a:r>
            <a:endParaRPr lang="en-US" sz="760" dirty="0"/>
          </a:p>
        </p:txBody>
      </p:sp>
      <p:sp>
        <p:nvSpPr>
          <p:cNvPr id="78" name="Text 76"/>
          <p:cNvSpPr/>
          <p:nvPr/>
        </p:nvSpPr>
        <p:spPr>
          <a:xfrm>
            <a:off x="9765792" y="4433926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2: a real CRS wrong patch</a:t>
            </a:r>
            <a:endParaRPr lang="en-US" sz="660" dirty="0"/>
          </a:p>
        </p:txBody>
      </p:sp>
      <p:sp>
        <p:nvSpPr>
          <p:cNvPr id="79" name="Shape 77"/>
          <p:cNvSpPr/>
          <p:nvPr/>
        </p:nvSpPr>
        <p:spPr>
          <a:xfrm>
            <a:off x="9656064" y="4569257"/>
            <a:ext cx="45720" cy="45720"/>
          </a:xfrm>
          <a:prstGeom prst="rect">
            <a:avLst/>
          </a:prstGeom>
          <a:solidFill>
            <a:srgbClr val="5FBF7F"/>
          </a:solidFill>
          <a:ln/>
        </p:spPr>
      </p:sp>
      <p:sp>
        <p:nvSpPr>
          <p:cNvPr id="80" name="Text 78"/>
          <p:cNvSpPr/>
          <p:nvPr/>
        </p:nvSpPr>
        <p:spPr>
          <a:xfrm>
            <a:off x="9765792" y="4528109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CRS end to end</a:t>
            </a:r>
            <a:endParaRPr lang="en-US" sz="760" dirty="0"/>
          </a:p>
        </p:txBody>
      </p:sp>
      <p:sp>
        <p:nvSpPr>
          <p:cNvPr id="81" name="Text 79"/>
          <p:cNvSpPr/>
          <p:nvPr/>
        </p:nvSpPr>
        <p:spPr>
          <a:xfrm>
            <a:off x="9765792" y="4642409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Buttercup, run unchanged</a:t>
            </a:r>
            <a:endParaRPr lang="en-US" sz="660" dirty="0"/>
          </a:p>
        </p:txBody>
      </p:sp>
      <p:sp>
        <p:nvSpPr>
          <p:cNvPr id="82" name="Shape 80"/>
          <p:cNvSpPr/>
          <p:nvPr/>
        </p:nvSpPr>
        <p:spPr>
          <a:xfrm>
            <a:off x="9464040" y="5102352"/>
            <a:ext cx="2194560" cy="1225296"/>
          </a:xfrm>
          <a:prstGeom prst="roundRect">
            <a:avLst>
              <a:gd name="adj" fmla="val 4478"/>
            </a:avLst>
          </a:prstGeom>
          <a:solidFill>
            <a:srgbClr val="221609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646920" y="51937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THE FINALE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9656064" y="5509260"/>
            <a:ext cx="45720" cy="457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5" name="Text 83"/>
          <p:cNvSpPr/>
          <p:nvPr/>
        </p:nvSpPr>
        <p:spPr>
          <a:xfrm>
            <a:off x="9765792" y="5468112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E8C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Falsification M4</a:t>
            </a:r>
            <a:endParaRPr lang="en-US" sz="760" dirty="0"/>
          </a:p>
        </p:txBody>
      </p:sp>
      <p:sp>
        <p:nvSpPr>
          <p:cNvPr id="86" name="Text 84"/>
          <p:cNvSpPr/>
          <p:nvPr/>
        </p:nvSpPr>
        <p:spPr>
          <a:xfrm>
            <a:off x="9765792" y="5582412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A8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unbuilt stage</a:t>
            </a:r>
            <a:endParaRPr lang="en-US" sz="660" dirty="0"/>
          </a:p>
        </p:txBody>
      </p:sp>
      <p:sp>
        <p:nvSpPr>
          <p:cNvPr id="87" name="Shape 85"/>
          <p:cNvSpPr/>
          <p:nvPr/>
        </p:nvSpPr>
        <p:spPr>
          <a:xfrm>
            <a:off x="9656064" y="5747004"/>
            <a:ext cx="45720" cy="457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8" name="Text 86"/>
          <p:cNvSpPr/>
          <p:nvPr/>
        </p:nvSpPr>
        <p:spPr>
          <a:xfrm>
            <a:off x="9765792" y="570585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E8C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target, unattended</a:t>
            </a:r>
            <a:endParaRPr lang="en-US" sz="760" dirty="0"/>
          </a:p>
        </p:txBody>
      </p:sp>
      <p:sp>
        <p:nvSpPr>
          <p:cNvPr id="89" name="Text 87"/>
          <p:cNvSpPr/>
          <p:nvPr/>
        </p:nvSpPr>
        <p:spPr>
          <a:xfrm>
            <a:off x="9765792" y="5820156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A8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environment, no operator</a:t>
            </a:r>
            <a:endParaRPr lang="en-US" sz="660" dirty="0"/>
          </a:p>
        </p:txBody>
      </p:sp>
      <p:sp>
        <p:nvSpPr>
          <p:cNvPr id="90" name="Shape 88"/>
          <p:cNvSpPr/>
          <p:nvPr/>
        </p:nvSpPr>
        <p:spPr>
          <a:xfrm>
            <a:off x="9656064" y="5984748"/>
            <a:ext cx="45720" cy="457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91" name="Text 89"/>
          <p:cNvSpPr/>
          <p:nvPr/>
        </p:nvSpPr>
        <p:spPr>
          <a:xfrm>
            <a:off x="9765792" y="594360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E8C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air-gap flip</a:t>
            </a:r>
            <a:endParaRPr lang="en-US" sz="760" dirty="0"/>
          </a:p>
        </p:txBody>
      </p:sp>
      <p:sp>
        <p:nvSpPr>
          <p:cNvPr id="92" name="Text 90"/>
          <p:cNvSpPr/>
          <p:nvPr/>
        </p:nvSpPr>
        <p:spPr>
          <a:xfrm>
            <a:off x="9765792" y="605790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A8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weights, same gate</a:t>
            </a:r>
            <a:endParaRPr lang="en-US" sz="660" dirty="0"/>
          </a:p>
        </p:txBody>
      </p:sp>
      <p:sp>
        <p:nvSpPr>
          <p:cNvPr id="93" name="Shape 91"/>
          <p:cNvSpPr/>
          <p:nvPr/>
        </p:nvSpPr>
        <p:spPr>
          <a:xfrm>
            <a:off x="502920" y="5102352"/>
            <a:ext cx="8595360" cy="1225296"/>
          </a:xfrm>
          <a:prstGeom prst="roundRect">
            <a:avLst>
              <a:gd name="adj" fmla="val 3731"/>
            </a:avLst>
          </a:prstGeom>
          <a:solidFill>
            <a:srgbClr val="151C24"/>
          </a:solidFill>
          <a:ln w="9525">
            <a:solidFill>
              <a:srgbClr val="33404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3232" y="52120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5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GATE'S CHECKS ARE MAINTAINER-VALIDATED  —  TEN PATCHES MERGED UPSTREAM IN 2026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13232" y="5458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1042416" y="546811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— bpf, llc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1042416" y="56052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60"/>
              </a:lnSpc>
              <a:buNone/>
            </a:pPr>
            <a:r>
              <a:rPr lang="en-US" sz="52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v7.2  0dfcb68a 39310121</a:t>
            </a:r>
            <a:endParaRPr lang="en-US" sz="520" dirty="0"/>
          </a:p>
          <a:p>
            <a:pPr indent="0" marL="0">
              <a:lnSpc>
                <a:spcPts val="660"/>
              </a:lnSpc>
              <a:buNone/>
            </a:pPr>
            <a:r>
              <a:rPr lang="en-US" sz="52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v7.3  35dac1da 217828aa</a:t>
            </a:r>
            <a:endParaRPr lang="en-US" sz="520" dirty="0"/>
          </a:p>
          <a:p>
            <a:pPr indent="0" marL="0">
              <a:lnSpc>
                <a:spcPts val="660"/>
              </a:lnSpc>
              <a:buNone/>
            </a:pPr>
            <a:r>
              <a:rPr lang="en-US" sz="52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e54a8787 d1f4b564</a:t>
            </a:r>
            <a:endParaRPr lang="en-US" sz="520" dirty="0"/>
          </a:p>
        </p:txBody>
      </p:sp>
      <p:sp>
        <p:nvSpPr>
          <p:cNvPr id="98" name="Text 96"/>
          <p:cNvSpPr/>
          <p:nvPr/>
        </p:nvSpPr>
        <p:spPr>
          <a:xfrm>
            <a:off x="2843784" y="5458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3172968" y="546811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nftables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3172968" y="56052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60"/>
              </a:lnSpc>
              <a:buNone/>
            </a:pPr>
            <a:r>
              <a:rPr lang="en-US" sz="52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49e41823  0960e900</a:t>
            </a:r>
            <a:endParaRPr lang="en-US" sz="520" dirty="0"/>
          </a:p>
          <a:p>
            <a:pPr indent="0" marL="0">
              <a:lnSpc>
                <a:spcPts val="660"/>
              </a:lnSpc>
              <a:buNone/>
            </a:pPr>
            <a:r>
              <a:rPr lang="en-US" sz="52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endParaRPr lang="en-US" sz="520" dirty="0"/>
          </a:p>
        </p:txBody>
      </p:sp>
      <p:sp>
        <p:nvSpPr>
          <p:cNvPr id="101" name="Text 99"/>
          <p:cNvSpPr/>
          <p:nvPr/>
        </p:nvSpPr>
        <p:spPr>
          <a:xfrm>
            <a:off x="4974336" y="5458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5303520" y="546811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OpenBSD — authpf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5303520" y="56052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60"/>
              </a:lnSpc>
              <a:buNone/>
            </a:pPr>
            <a:r>
              <a:rPr lang="en-US" sz="52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2d12a8e4</a:t>
            </a:r>
            <a:endParaRPr lang="en-US" sz="520" dirty="0"/>
          </a:p>
          <a:p>
            <a:pPr indent="0" marL="0">
              <a:lnSpc>
                <a:spcPts val="660"/>
              </a:lnSpc>
              <a:buNone/>
            </a:pPr>
            <a:r>
              <a:rPr lang="en-US" sz="52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endParaRPr lang="en-US" sz="520" dirty="0"/>
          </a:p>
        </p:txBody>
      </p:sp>
      <p:sp>
        <p:nvSpPr>
          <p:cNvPr id="104" name="Text 102"/>
          <p:cNvSpPr/>
          <p:nvPr/>
        </p:nvSpPr>
        <p:spPr>
          <a:xfrm>
            <a:off x="7104888" y="5458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05" name="Text 103"/>
          <p:cNvSpPr/>
          <p:nvPr/>
        </p:nvSpPr>
        <p:spPr>
          <a:xfrm>
            <a:off x="7434072" y="546811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FreeBSD — authpf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434072" y="56052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60"/>
              </a:lnSpc>
              <a:buNone/>
            </a:pPr>
            <a:r>
              <a:rPr lang="en-US" sz="52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04f25ef7</a:t>
            </a:r>
            <a:endParaRPr lang="en-US" sz="520" dirty="0"/>
          </a:p>
          <a:p>
            <a:pPr indent="0" marL="0">
              <a:lnSpc>
                <a:spcPts val="660"/>
              </a:lnSpc>
              <a:buNone/>
            </a:pPr>
            <a:r>
              <a:rPr lang="en-US" sz="52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520" dirty="0"/>
          </a:p>
        </p:txBody>
      </p:sp>
      <p:sp>
        <p:nvSpPr>
          <p:cNvPr id="107" name="Text 105"/>
          <p:cNvSpPr/>
          <p:nvPr/>
        </p:nvSpPr>
        <p:spPr>
          <a:xfrm>
            <a:off x="713232" y="588873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Arazu's checks began as the pre-flight set for these submissions — so we can measure how often the gate flags what a kernel maintainer flagged.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713232" y="60899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checks produced a fix to </a:t>
            </a:r>
            <a:pPr indent="0" marL="0">
              <a:buNone/>
            </a:pPr>
            <a:r>
              <a:rPr lang="en-US" sz="800" b="1" dirty="0">
                <a:solidFill>
                  <a:srgbClr val="C6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sashiko</a:t>
            </a:r>
            <a:pPr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(funded by Google), the LLM review bot used on kernel submissions  —  </a:t>
            </a:r>
            <a:pPr indent="0" marL="0">
              <a:buNone/>
            </a:pPr>
            <a:r>
              <a:rPr lang="en-US" sz="800" dirty="0">
                <a:solidFill>
                  <a:srgbClr val="C6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(c4fbec3)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10881360" y="63825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Arazu — AI Kavach qualifier</dc:title>
  <dc:subject>PptxGenJS Presentation</dc:subject>
  <dc:creator>Avinash H. Duduskar</dc:creator>
  <cp:lastModifiedBy>Avinash H. Duduskar</cp:lastModifiedBy>
  <cp:revision>1</cp:revision>
  <dcterms:created xsi:type="dcterms:W3CDTF">2026-08-29T12:19:53Z</dcterms:created>
  <dcterms:modified xsi:type="dcterms:W3CDTF">2026-08-29T12:19:53Z</dcterms:modified>
</cp:coreProperties>
</file>